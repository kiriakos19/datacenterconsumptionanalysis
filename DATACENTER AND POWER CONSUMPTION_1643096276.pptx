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58" r:id="rId4"/>
    <p:sldId id="261" r:id="rId5"/>
    <p:sldId id="262" r:id="rId6"/>
    <p:sldId id="279" r:id="rId7"/>
    <p:sldId id="267" r:id="rId8"/>
    <p:sldId id="259" r:id="rId9"/>
    <p:sldId id="271" r:id="rId10"/>
    <p:sldId id="276" r:id="rId11"/>
    <p:sldId id="277" r:id="rId12"/>
    <p:sldId id="270" r:id="rId13"/>
    <p:sldId id="260" r:id="rId14"/>
    <p:sldId id="266" r:id="rId15"/>
    <p:sldId id="272" r:id="rId16"/>
    <p:sldId id="269" r:id="rId17"/>
    <p:sldId id="263" r:id="rId18"/>
    <p:sldId id="264" r:id="rId19"/>
    <p:sldId id="274" r:id="rId20"/>
    <p:sldId id="273" r:id="rId21"/>
    <p:sldId id="280" r:id="rId22"/>
    <p:sldId id="278" r:id="rId23"/>
    <p:sldId id="26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be95e70ef4629e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 smtClean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l-GR" smtClean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 smtClean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 smtClean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 smtClean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___________________Microsoft_Excel1.xlsx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10514664" y="6488668"/>
            <a:ext cx="1677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600116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714500"/>
            <a:ext cx="89535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2217" y="0"/>
            <a:ext cx="597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ΥποδομώνΥπολογιστικού Νέφους</a:t>
            </a:r>
            <a:endParaRPr lang="el-GR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7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715303" y="6396335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 rotWithShape="1">
          <a:blip r:embed="rId3"/>
          <a:srcRect b="75400"/>
          <a:stretch/>
        </p:blipFill>
        <p:spPr>
          <a:xfrm>
            <a:off x="2262124" y="807338"/>
            <a:ext cx="6424676" cy="1030088"/>
          </a:xfrm>
          <a:prstGeom prst="rect">
            <a:avLst/>
          </a:prstGeom>
        </p:spPr>
      </p:pic>
      <p:pic>
        <p:nvPicPr>
          <p:cNvPr id="7" name="Εικόνα 6"/>
          <p:cNvPicPr>
            <a:picLocks noChangeAspect="1"/>
          </p:cNvPicPr>
          <p:nvPr/>
        </p:nvPicPr>
        <p:blipFill rotWithShape="1">
          <a:blip r:embed="rId4"/>
          <a:srcRect t="23976"/>
          <a:stretch/>
        </p:blipFill>
        <p:spPr>
          <a:xfrm>
            <a:off x="2262124" y="1811547"/>
            <a:ext cx="6425741" cy="31841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13211" y="1450538"/>
            <a:ext cx="37869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l-GR" dirty="0" smtClean="0">
                <a:solidFill>
                  <a:srgbClr val="002060"/>
                </a:solidFill>
              </a:rPr>
              <a:t>Κέντρο Διανομής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2060"/>
                </a:solidFill>
              </a:rPr>
              <a:t>ATS </a:t>
            </a:r>
            <a:r>
              <a:rPr lang="el-GR" dirty="0" smtClean="0">
                <a:solidFill>
                  <a:srgbClr val="002060"/>
                </a:solidFill>
              </a:rPr>
              <a:t>Αυτόματος Διακόπτης Μεταφοράς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2060"/>
                </a:solidFill>
              </a:rPr>
              <a:t>UPS </a:t>
            </a: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el-GR" dirty="0" smtClean="0">
                <a:solidFill>
                  <a:srgbClr val="002060"/>
                </a:solidFill>
                <a:sym typeface="Wingdings" panose="05000000000000000000" pitchFamily="2" charset="2"/>
              </a:rPr>
              <a:t>κόβουν </a:t>
            </a: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min&amp; max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PDUs –</a:t>
            </a:r>
            <a:r>
              <a:rPr lang="el-GR" dirty="0" smtClean="0">
                <a:solidFill>
                  <a:srgbClr val="002060"/>
                </a:solidFill>
                <a:sym typeface="Wingdings" panose="05000000000000000000" pitchFamily="2" charset="2"/>
              </a:rPr>
              <a:t>Διανομείς</a:t>
            </a:r>
          </a:p>
          <a:p>
            <a:pPr marL="342900" indent="-342900">
              <a:buAutoNum type="arabicPeriod"/>
            </a:pPr>
            <a:r>
              <a:rPr lang="el-GR" dirty="0" smtClean="0">
                <a:solidFill>
                  <a:srgbClr val="002060"/>
                </a:solidFill>
                <a:sym typeface="Wingdings" panose="05000000000000000000" pitchFamily="2" charset="2"/>
              </a:rPr>
              <a:t>Γραμμές Μεταφοράς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Breaker</a:t>
            </a:r>
            <a:r>
              <a:rPr lang="el-GR" dirty="0" smtClean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Circuits </a:t>
            </a:r>
            <a:r>
              <a:rPr lang="el-GR" dirty="0" smtClean="0">
                <a:solidFill>
                  <a:srgbClr val="002060"/>
                </a:solidFill>
                <a:sym typeface="Wingdings" panose="05000000000000000000" pitchFamily="2" charset="2"/>
              </a:rPr>
              <a:t>για να αποφεύγονται τα βραχυκυκλώματα</a:t>
            </a:r>
            <a:endParaRPr lang="el-GR" dirty="0">
              <a:solidFill>
                <a:srgbClr val="002060"/>
              </a:solidFill>
            </a:endParaRPr>
          </a:p>
        </p:txBody>
      </p:sp>
      <p:cxnSp>
        <p:nvCxnSpPr>
          <p:cNvPr id="13" name="Γωνιακή σύνδεση 12"/>
          <p:cNvCxnSpPr/>
          <p:nvPr/>
        </p:nvCxnSpPr>
        <p:spPr>
          <a:xfrm rot="16200000" flipH="1">
            <a:off x="3994030" y="3157267"/>
            <a:ext cx="897147" cy="81088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Γωνιακή σύνδεση 14"/>
          <p:cNvCxnSpPr/>
          <p:nvPr/>
        </p:nvCxnSpPr>
        <p:spPr>
          <a:xfrm>
            <a:off x="4339087" y="2743200"/>
            <a:ext cx="698739" cy="181155"/>
          </a:xfrm>
          <a:prstGeom prst="bentConnector3">
            <a:avLst>
              <a:gd name="adj1" fmla="val 99383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Εικόνα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057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2217" y="0"/>
            <a:ext cx="597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ΥποδομώνΥπολογιστικού Νέφους</a:t>
            </a:r>
            <a:endParaRPr lang="el-GR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Ορθογώνιο 2"/>
          <p:cNvSpPr/>
          <p:nvPr/>
        </p:nvSpPr>
        <p:spPr>
          <a:xfrm>
            <a:off x="-494581" y="1052956"/>
            <a:ext cx="12686580" cy="4515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marR="291465" indent="-6350" algn="just">
              <a:lnSpc>
                <a:spcPct val="94000"/>
              </a:lnSpc>
              <a:spcAft>
                <a:spcPts val="995"/>
              </a:spcAft>
            </a:pPr>
            <a:r>
              <a:rPr lang="el-GR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Η κατανάλωση ενέργειας και η ισχύς είναι επίσης σημαντικές ανησυχίες για το σχεδιασμό των </a:t>
            </a:r>
            <a:r>
              <a:rPr lang="en-US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DataCenters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l-GR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επειδή το κόστος που σχετίζεται με την ενέργεια έχει καταστεί σημαντικό στοιχείο του συνολικού κόστους αυτής της κατηγορίας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συστημάτων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10-20$/1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Watt</a:t>
            </a:r>
          </a:p>
          <a:p>
            <a:pPr marL="926465" marR="291465" lvl="1" indent="-6350" algn="just">
              <a:lnSpc>
                <a:spcPct val="94000"/>
              </a:lnSpc>
              <a:spcAft>
                <a:spcPts val="995"/>
              </a:spcAft>
            </a:pP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Υψηλός Κόστος Κατασκευής + </a:t>
            </a:r>
            <a:r>
              <a:rPr lang="el-GR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Υπο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-χρησιμοποίηση</a:t>
            </a:r>
            <a:r>
              <a:rPr lang="en-US" sz="36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l-GR" sz="36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Ισχύος=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Oversubscription</a:t>
            </a:r>
            <a:endParaRPr lang="el-GR" sz="3600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291465" lvl="1" indent="-6350" algn="just">
              <a:lnSpc>
                <a:spcPct val="94000"/>
              </a:lnSpc>
              <a:spcAft>
                <a:spcPts val="995"/>
              </a:spcAft>
            </a:pP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Παρατάσσονται περισσότεροι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servers (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από το όριο ισχύος)</a:t>
            </a:r>
            <a:endParaRPr lang="el-GR" sz="105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9715303" y="6396335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4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Ορθογώνιο 2"/>
          <p:cNvSpPr/>
          <p:nvPr/>
        </p:nvSpPr>
        <p:spPr>
          <a:xfrm>
            <a:off x="0" y="942436"/>
            <a:ext cx="12191999" cy="269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marR="291465" indent="-6350" algn="just">
              <a:lnSpc>
                <a:spcPct val="94000"/>
              </a:lnSpc>
              <a:spcAft>
                <a:spcPts val="995"/>
              </a:spcAft>
            </a:pP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Τα σύγχρονα κέντρα δεδομένων βελτιώνουν την χρήση των πόρων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με τη χρήση  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Oversubscription. H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«υπερδέσμευση» είναι εφικτή γιατί είναι χαμηλή η πιθανότητα ταυτόχρονης λειτουργίας όλων των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servers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στο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max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l-GR" sz="36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-1" y="3492092"/>
            <a:ext cx="12191999" cy="178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marR="291465" indent="-6350" algn="just">
              <a:lnSpc>
                <a:spcPct val="94000"/>
              </a:lnSpc>
              <a:spcAft>
                <a:spcPts val="995"/>
              </a:spcAft>
            </a:pP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Η αποτελεσματικότητα, μετρείται με την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PUE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					(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Usage </a:t>
            </a:r>
            <a:r>
              <a:rPr lang="en-US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Efficieny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δηλαδή: </a:t>
            </a:r>
            <a:endParaRPr lang="en-US" sz="3600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9265" marR="291465" indent="-6350" algn="just">
              <a:lnSpc>
                <a:spcPct val="94000"/>
              </a:lnSpc>
              <a:spcAft>
                <a:spcPts val="995"/>
              </a:spcAft>
            </a:pP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PUE= Total Facility Power/ Equipment Power</a:t>
            </a:r>
            <a:endParaRPr lang="el-GR" sz="36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9695847" y="6571439"/>
            <a:ext cx="24925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Ορθογώνιο 12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</a:t>
            </a:r>
            <a:r>
              <a:rPr lang="el-G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700642" y="607868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683521" y="6383483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0" y="942436"/>
            <a:ext cx="121919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Μπορούμε </a:t>
            </a:r>
            <a:r>
              <a:rPr lang="el-GR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εύκολα να μετρήσουμε την PUE προσθέτοντας ηλεκτρικούς μετρητές στις γραμμές που τροφοδοτούν τα διάφορα τμήματα 	ενός 	κέντρου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δεδομένων,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προσδιορίζοντας έτσι </a:t>
            </a:r>
            <a:r>
              <a:rPr lang="el-GR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πόση 	ισχύς χρησιμοποιείται από ψυκτικά συγκροτήματα ή UPS.</a:t>
            </a:r>
            <a:endParaRPr lang="el-G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1996192" y="3053242"/>
            <a:ext cx="10195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Ιδεατή τιμή: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PUE~1</a:t>
            </a:r>
            <a:endParaRPr lang="el-G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Ορθογώνιο 2"/>
          <p:cNvSpPr/>
          <p:nvPr/>
        </p:nvSpPr>
        <p:spPr>
          <a:xfrm>
            <a:off x="2343461" y="4285529"/>
            <a:ext cx="96336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3600" i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Οι στιγμιαίες PUE διαφέρουν από τις μέσες PUE. Κατά τη διάρκεια μιας ημέρας ή ενός έτους, η PUE μιας εγκατάστασης μπορεί να ποικίλει σημαντικά.</a:t>
            </a:r>
            <a:endParaRPr lang="el-GR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Εικόνα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9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700642" y="607868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683521" y="6383483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0" y="1567492"/>
            <a:ext cx="39868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Υπάρχουν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τα οποία αυτόματα υπολογίζουν την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PUE,</a:t>
            </a:r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΄όπως το 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https://www.42u.com/measurement/pue-dcie.htm</a:t>
            </a:r>
            <a:endParaRPr lang="el-G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Εικόνα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pic>
        <p:nvPicPr>
          <p:cNvPr id="2" name="Εικόνα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055" y="1452359"/>
            <a:ext cx="7932896" cy="478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2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373285" y="6200006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8899" y="1645657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Υπάρχουν πολλές παράμετροι που μας βοηθούν να αξιολογήσουμε ένα σύστημα ως προς την ισχύ του</a:t>
            </a:r>
            <a:endParaRPr lang="el-G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Εικόνα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373285" y="6200006"/>
            <a:ext cx="2818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92" y="690117"/>
            <a:ext cx="5853499" cy="3398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51630" y="1235738"/>
            <a:ext cx="1721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DR=</a:t>
            </a:r>
            <a:endParaRPr lang="el-GR" sz="6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Ευθεία γραμμή σύνδεσης 7"/>
          <p:cNvCxnSpPr>
            <a:stCxn id="5" idx="3"/>
          </p:cNvCxnSpPr>
          <p:nvPr/>
        </p:nvCxnSpPr>
        <p:spPr>
          <a:xfrm>
            <a:off x="9373285" y="1743570"/>
            <a:ext cx="2712323" cy="248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58750" y="951298"/>
            <a:ext cx="26287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Pp-Pi</a:t>
            </a:r>
            <a:endParaRPr lang="el-GR" sz="6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7633" y="1696465"/>
            <a:ext cx="1721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endParaRPr lang="el-GR" sz="6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593" y="4504603"/>
            <a:ext cx="101044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0&lt;DR&lt;1, 1</a:t>
            </a:r>
            <a:r>
              <a:rPr lang="en-US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l-GR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μεγαλύτερη </a:t>
            </a:r>
            <a:r>
              <a:rPr lang="el-GR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ενεργειακή αναλογικότητα</a:t>
            </a: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2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612314" y="6211669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3565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0805" cy="942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2217" y="0"/>
            <a:ext cx="597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ΥποδομώνΥπολογιστικού Νέφους</a:t>
            </a:r>
            <a:endParaRPr lang="el-GR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92" y="690117"/>
            <a:ext cx="5853499" cy="3398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47182" y="1235738"/>
            <a:ext cx="1721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DR=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58750" y="951298"/>
            <a:ext cx="1437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Pp-Pi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Ευθεία γραμμή σύνδεσης 7"/>
          <p:cNvCxnSpPr/>
          <p:nvPr/>
        </p:nvCxnSpPr>
        <p:spPr>
          <a:xfrm>
            <a:off x="9758750" y="1536073"/>
            <a:ext cx="10875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97779" y="1558903"/>
            <a:ext cx="1721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6862" y="4409709"/>
            <a:ext cx="101044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Pp-max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κατανάλωση ισχύος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Pi-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κατανάλωση σε κατάσταση αδράνειας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07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715303" y="6396335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Εικόνα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993" y="859113"/>
            <a:ext cx="101044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Χρησιμοποιώντας δεδομένα από το *.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και φιλτράροντας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&amp; Idle Power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για το 2017: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70856"/>
              </p:ext>
            </p:extLst>
          </p:nvPr>
        </p:nvGraphicFramePr>
        <p:xfrm>
          <a:off x="715994" y="2070103"/>
          <a:ext cx="5354066" cy="1493520"/>
        </p:xfrm>
        <a:graphic>
          <a:graphicData uri="http://schemas.openxmlformats.org/drawingml/2006/table">
            <a:tbl>
              <a:tblPr/>
              <a:tblGrid>
                <a:gridCol w="4105708"/>
                <a:gridCol w="1248358"/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Hewlett Packard Enterprise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24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Quanta Computer Inc.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24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Hewlett Packard Enterprise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24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Εικόνα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265" y="2733517"/>
            <a:ext cx="5129472" cy="3717340"/>
          </a:xfrm>
          <a:prstGeom prst="rect">
            <a:avLst/>
          </a:prstGeom>
        </p:spPr>
      </p:pic>
      <p:pic>
        <p:nvPicPr>
          <p:cNvPr id="12" name="Εικόνα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6317" y="4202156"/>
            <a:ext cx="3127519" cy="14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00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715303" y="6396335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Εικόνα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993" y="859113"/>
            <a:ext cx="101044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Χρησιμοποιώντας δεδομένα από το *.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και φιλτράροντας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&amp; Idle Power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για τις χρονιές 2010-2021:</a:t>
            </a:r>
          </a:p>
        </p:txBody>
      </p:sp>
      <p:pic>
        <p:nvPicPr>
          <p:cNvPr id="10" name="Εικόνα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106" y="2104097"/>
            <a:ext cx="6340390" cy="4267570"/>
          </a:xfrm>
          <a:prstGeom prst="rect">
            <a:avLst/>
          </a:prstGeom>
        </p:spPr>
      </p:pic>
      <p:graphicFrame>
        <p:nvGraphicFramePr>
          <p:cNvPr id="14" name="Αντικείμενο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777998"/>
              </p:ext>
            </p:extLst>
          </p:nvPr>
        </p:nvGraphicFramePr>
        <p:xfrm>
          <a:off x="1310753" y="2682673"/>
          <a:ext cx="1638300" cy="238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Φύλλο εργασίας" r:id="rId6" imgW="1638265" imgH="2384878" progId="Excel.Sheet.12">
                  <p:embed/>
                </p:oleObj>
              </mc:Choice>
              <mc:Fallback>
                <p:oleObj name="Φύλλο εργασίας" r:id="rId6" imgW="1638265" imgH="23848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0753" y="2682673"/>
                        <a:ext cx="1638300" cy="238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66302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553600" y="6404080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1001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64" y="1958348"/>
            <a:ext cx="4145400" cy="2407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41334" y="1886958"/>
            <a:ext cx="54585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τι γίνεται όμως όταν στο </a:t>
            </a:r>
            <a:r>
              <a:rPr lang="el-G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</a:t>
            </a:r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dle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και στο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είναι ίδιες οι τιμές ισχύος;</a:t>
            </a:r>
            <a:endParaRPr lang="en-US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γραμμικότητα μετριέται με την τιμή της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Εικόνα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1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373285" y="6371667"/>
            <a:ext cx="2818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83554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5" y="1072773"/>
            <a:ext cx="5858764" cy="3401863"/>
          </a:xfrm>
          <a:prstGeom prst="rect">
            <a:avLst/>
          </a:prstGeom>
        </p:spPr>
      </p:pic>
      <p:grpSp>
        <p:nvGrpSpPr>
          <p:cNvPr id="17" name="Ομάδα 16"/>
          <p:cNvGrpSpPr/>
          <p:nvPr/>
        </p:nvGrpSpPr>
        <p:grpSpPr>
          <a:xfrm>
            <a:off x="1419243" y="1268607"/>
            <a:ext cx="4720681" cy="2517866"/>
            <a:chOff x="1397414" y="1319842"/>
            <a:chExt cx="4720681" cy="2517866"/>
          </a:xfrm>
        </p:grpSpPr>
        <p:cxnSp>
          <p:nvCxnSpPr>
            <p:cNvPr id="7" name="Ευθεία γραμμή σύνδεσης 6"/>
            <p:cNvCxnSpPr/>
            <p:nvPr/>
          </p:nvCxnSpPr>
          <p:spPr>
            <a:xfrm>
              <a:off x="5555411" y="1319842"/>
              <a:ext cx="560717" cy="4830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Εικόνα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336" y="1402001"/>
              <a:ext cx="1133791" cy="989051"/>
            </a:xfrm>
            <a:prstGeom prst="rect">
              <a:avLst/>
            </a:prstGeom>
          </p:spPr>
        </p:pic>
        <p:pic>
          <p:nvPicPr>
            <p:cNvPr id="10" name="Εικόνα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9260" y="1488264"/>
              <a:ext cx="1695697" cy="1479223"/>
            </a:xfrm>
            <a:prstGeom prst="rect">
              <a:avLst/>
            </a:prstGeom>
          </p:spPr>
        </p:pic>
        <p:pic>
          <p:nvPicPr>
            <p:cNvPr id="12" name="Εικόνα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1651" y="1646568"/>
              <a:ext cx="2206444" cy="1924768"/>
            </a:xfrm>
            <a:prstGeom prst="rect">
              <a:avLst/>
            </a:prstGeom>
          </p:spPr>
        </p:pic>
        <p:pic>
          <p:nvPicPr>
            <p:cNvPr id="13" name="Εικόνα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8912" y="2094442"/>
              <a:ext cx="1998380" cy="1743266"/>
            </a:xfrm>
            <a:prstGeom prst="rect">
              <a:avLst/>
            </a:prstGeom>
          </p:spPr>
        </p:pic>
        <p:pic>
          <p:nvPicPr>
            <p:cNvPr id="14" name="Εικόνα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2755" y="2408305"/>
              <a:ext cx="1629953" cy="1421872"/>
            </a:xfrm>
            <a:prstGeom prst="rect">
              <a:avLst/>
            </a:prstGeom>
          </p:spPr>
        </p:pic>
        <p:pic>
          <p:nvPicPr>
            <p:cNvPr id="15" name="Εικόνα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7414" y="2717529"/>
              <a:ext cx="1233643" cy="1076155"/>
            </a:xfrm>
            <a:prstGeom prst="rect">
              <a:avLst/>
            </a:prstGeom>
          </p:spPr>
        </p:pic>
        <p:pic>
          <p:nvPicPr>
            <p:cNvPr id="16" name="Εικόνα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0499" y="1844484"/>
              <a:ext cx="2247878" cy="1960912"/>
            </a:xfrm>
            <a:prstGeom prst="rect">
              <a:avLst/>
            </a:prstGeom>
          </p:spPr>
        </p:pic>
      </p:grpSp>
      <p:grpSp>
        <p:nvGrpSpPr>
          <p:cNvPr id="41" name="Ομάδα 40"/>
          <p:cNvGrpSpPr/>
          <p:nvPr/>
        </p:nvGrpSpPr>
        <p:grpSpPr>
          <a:xfrm>
            <a:off x="1488183" y="1225846"/>
            <a:ext cx="4585177" cy="2518579"/>
            <a:chOff x="1513717" y="1229847"/>
            <a:chExt cx="4585177" cy="2518579"/>
          </a:xfrm>
        </p:grpSpPr>
        <p:cxnSp>
          <p:nvCxnSpPr>
            <p:cNvPr id="22" name="Ευθεία γραμμή σύνδεσης 21"/>
            <p:cNvCxnSpPr/>
            <p:nvPr/>
          </p:nvCxnSpPr>
          <p:spPr>
            <a:xfrm flipH="1">
              <a:off x="1513717" y="2527540"/>
              <a:ext cx="419039" cy="1180481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Ευθεία γραμμή σύνδεσης 23"/>
            <p:cNvCxnSpPr/>
            <p:nvPr/>
          </p:nvCxnSpPr>
          <p:spPr>
            <a:xfrm flipH="1">
              <a:off x="1867587" y="2388080"/>
              <a:ext cx="545627" cy="1360346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Ευθεία γραμμή σύνδεσης 24"/>
            <p:cNvCxnSpPr/>
            <p:nvPr/>
          </p:nvCxnSpPr>
          <p:spPr>
            <a:xfrm flipH="1">
              <a:off x="3873263" y="1741496"/>
              <a:ext cx="820909" cy="200301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Ευθεία γραμμή σύνδεσης 26"/>
            <p:cNvCxnSpPr/>
            <p:nvPr/>
          </p:nvCxnSpPr>
          <p:spPr>
            <a:xfrm flipH="1">
              <a:off x="2360772" y="2245744"/>
              <a:ext cx="515987" cy="1462277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Ευθεία γραμμή σύνδεσης 27"/>
            <p:cNvCxnSpPr/>
            <p:nvPr/>
          </p:nvCxnSpPr>
          <p:spPr>
            <a:xfrm flipH="1">
              <a:off x="2789886" y="2020789"/>
              <a:ext cx="699361" cy="1687232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Ευθεία γραμμή σύνδεσης 28"/>
            <p:cNvCxnSpPr/>
            <p:nvPr/>
          </p:nvCxnSpPr>
          <p:spPr>
            <a:xfrm flipH="1">
              <a:off x="3351559" y="1774370"/>
              <a:ext cx="856051" cy="1919377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Ευθεία γραμμή σύνδεσης 29"/>
            <p:cNvCxnSpPr/>
            <p:nvPr/>
          </p:nvCxnSpPr>
          <p:spPr>
            <a:xfrm flipH="1">
              <a:off x="4283210" y="1524656"/>
              <a:ext cx="821925" cy="2176076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Ευθεία γραμμή σύνδεσης 30"/>
            <p:cNvCxnSpPr/>
            <p:nvPr/>
          </p:nvCxnSpPr>
          <p:spPr>
            <a:xfrm flipH="1">
              <a:off x="4926140" y="1229847"/>
              <a:ext cx="1172754" cy="2493889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6557567" y="1528023"/>
            <a:ext cx="573632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LD=(</a:t>
            </a:r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/El)-1</a:t>
            </a:r>
            <a:endParaRPr lang="el-GR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0&gt;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υπέργραμμικό</a:t>
            </a:r>
            <a:endParaRPr lang="en-US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linear </a:t>
            </a:r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Describing a function that grows faster than a linear one</a:t>
            </a:r>
            <a:endParaRPr lang="el-GR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&lt;0, </a:t>
            </a:r>
            <a:r>
              <a:rPr lang="el-GR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ημιγραμμικό</a:t>
            </a:r>
            <a:endParaRPr lang="el-GR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 γραμμικό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Εικόνα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Εικόνα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3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202172" y="761099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 sz="3200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697321" y="6400851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61690" y="2097969"/>
            <a:ext cx="5736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LD=         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Ευθεία γραμμή σύνδεσης 17"/>
          <p:cNvCxnSpPr/>
          <p:nvPr/>
        </p:nvCxnSpPr>
        <p:spPr>
          <a:xfrm>
            <a:off x="7474617" y="2437001"/>
            <a:ext cx="2367795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36155" y="2517009"/>
            <a:ext cx="1766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99085" y="4174092"/>
            <a:ext cx="8958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δυναμικό έργο, όσο μικρότερο τόσο καλύτερα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πόσο μακριά είμαστε από τη μέση</a:t>
            </a: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ΕΡ, συσχετίζεται από τη μη γραμμικότητα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Εικόνα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2" y="880183"/>
            <a:ext cx="5667298" cy="32939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99676" y="1792231"/>
            <a:ext cx="2395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Εικόνα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9" name="Ορθογώνιο 8"/>
          <p:cNvSpPr/>
          <p:nvPr/>
        </p:nvSpPr>
        <p:spPr>
          <a:xfrm>
            <a:off x="9704027" y="6404289"/>
            <a:ext cx="2492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Ορθογώνιο 10"/>
          <p:cNvSpPr/>
          <p:nvPr/>
        </p:nvSpPr>
        <p:spPr>
          <a:xfrm>
            <a:off x="9728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Εικόνα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27" y="1061003"/>
            <a:ext cx="4367522" cy="25384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36511" y="3699145"/>
            <a:ext cx="2395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El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73068" y="1747222"/>
            <a:ext cx="57080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Όταν θέλω να μετρήσω γραμμικότητα και αναλογικότητα;</a:t>
            </a:r>
            <a:endParaRPr lang="el-G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59517" y="3959342"/>
            <a:ext cx="2327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EP=1-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Ευθεία γραμμή σύνδεσης 19"/>
          <p:cNvCxnSpPr/>
          <p:nvPr/>
        </p:nvCxnSpPr>
        <p:spPr>
          <a:xfrm>
            <a:off x="3526379" y="4283920"/>
            <a:ext cx="236779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10276" y="4283920"/>
            <a:ext cx="1044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Εικόνα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0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 sz="3200">
              <a:solidFill>
                <a:srgbClr val="0020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3419" y="3979111"/>
            <a:ext cx="89581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EP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κυμαίνεται μεταξύ 0 και 2</a:t>
            </a: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Υψηλότερη ΕΡ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μεγαλύτερη ενεργειακή αναλογία</a:t>
            </a: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Ιδανικός αναλογικός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 EP=1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Στους γραμμικούς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servers DR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EP</a:t>
            </a:r>
            <a:endParaRPr lang="el-GR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Εικόνα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2" y="955157"/>
            <a:ext cx="4724660" cy="274603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76870" y="1721359"/>
            <a:ext cx="2395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El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36638" y="1971736"/>
            <a:ext cx="2327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EP=1-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Ευθεία γραμμή σύνδεσης 24"/>
          <p:cNvCxnSpPr/>
          <p:nvPr/>
        </p:nvCxnSpPr>
        <p:spPr>
          <a:xfrm>
            <a:off x="7529734" y="2331786"/>
            <a:ext cx="2367795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32082" y="2442155"/>
            <a:ext cx="1044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Ορθογώνιο 13"/>
          <p:cNvSpPr/>
          <p:nvPr/>
        </p:nvSpPr>
        <p:spPr>
          <a:xfrm>
            <a:off x="9373285" y="6394565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Ορθογώνιο 14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0"/>
            <a:ext cx="2460805" cy="9424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7704" y="4310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Εικόνα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911" y="1160686"/>
            <a:ext cx="112840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Για να τα μελετήσουμε υπάρχουν τα δεδομένα από το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ssj2008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Χρήσιμα συμπεράσματα:</a:t>
            </a:r>
          </a:p>
          <a:p>
            <a:endParaRPr lang="el-GR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Εικόνα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199" y="1976095"/>
            <a:ext cx="5273497" cy="4090771"/>
          </a:xfrm>
          <a:prstGeom prst="rect">
            <a:avLst/>
          </a:prstGeom>
        </p:spPr>
      </p:pic>
      <p:sp>
        <p:nvSpPr>
          <p:cNvPr id="10" name="Ορθογώνιο 9"/>
          <p:cNvSpPr/>
          <p:nvPr/>
        </p:nvSpPr>
        <p:spPr>
          <a:xfrm>
            <a:off x="9373285" y="6394564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0" y="6566492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0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pic>
        <p:nvPicPr>
          <p:cNvPr id="5" name="Εικόνα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82" y="1248913"/>
            <a:ext cx="5273497" cy="40907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2217" y="1471236"/>
            <a:ext cx="52067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Μελέτη 554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servers,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έδειξε ότι ανά 5ετία από το 2004</a:t>
            </a:r>
          </a:p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0,21&lt;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DR&lt;0,91</a:t>
            </a:r>
          </a:p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Οι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servers</a:t>
            </a:r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γίνονται πιο αναλογικοί με το πέρασμα των χρόνων</a:t>
            </a:r>
          </a:p>
          <a:p>
            <a:endParaRPr lang="el-GR" sz="3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9389177" y="6400851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Ορθογώνιο 12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1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76" y="1310627"/>
            <a:ext cx="11010081" cy="24656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7176" y="4099199"/>
            <a:ext cx="12002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Στην περίπτωση αυτή, το 2021 η κατανάλωση στο 100% είναι μεγαλύτερη, ενώ μεταξύ 10%-80% ήταν μικρότερη ή ίση</a:t>
            </a:r>
            <a:endParaRPr lang="el-G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9373285" y="6394564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0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sp>
        <p:nvSpPr>
          <p:cNvPr id="2" name="Στρογγύλεμα διαγώνιας γωνίας του ορθογωνίου 1"/>
          <p:cNvSpPr/>
          <p:nvPr/>
        </p:nvSpPr>
        <p:spPr>
          <a:xfrm>
            <a:off x="5841754" y="792918"/>
            <a:ext cx="740923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705" y="761836"/>
            <a:ext cx="967097" cy="3277043"/>
          </a:xfrm>
          <a:prstGeom prst="rect">
            <a:avLst/>
          </a:prstGeom>
          <a:ln>
            <a:gradFill flip="none" rotWithShape="1">
              <a:gsLst>
                <a:gs pos="0">
                  <a:srgbClr val="00206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</p:pic>
      <p:sp>
        <p:nvSpPr>
          <p:cNvPr id="18" name="Στρογγύλεμα διαγώνιας γωνίας του ορθογωνίου 17"/>
          <p:cNvSpPr/>
          <p:nvPr/>
        </p:nvSpPr>
        <p:spPr>
          <a:xfrm>
            <a:off x="4374204" y="795293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Στρογγύλεμα διαγώνιας γωνίας του ορθογωνίου 18"/>
          <p:cNvSpPr/>
          <p:nvPr/>
        </p:nvSpPr>
        <p:spPr>
          <a:xfrm>
            <a:off x="5106838" y="805020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Στρογγύλεμα διαγώνιας γωνίας του ορθογωνίου 19"/>
          <p:cNvSpPr/>
          <p:nvPr/>
        </p:nvSpPr>
        <p:spPr>
          <a:xfrm>
            <a:off x="6584959" y="794242"/>
            <a:ext cx="732634" cy="320747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Στρογγύλεμα διαγώνιας γωνίας του ορθογωνίου 20"/>
          <p:cNvSpPr/>
          <p:nvPr/>
        </p:nvSpPr>
        <p:spPr>
          <a:xfrm>
            <a:off x="7329330" y="805019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Στρογγύλεμα διαγώνιας γωνίας του ορθογωνίου 21"/>
          <p:cNvSpPr/>
          <p:nvPr/>
        </p:nvSpPr>
        <p:spPr>
          <a:xfrm>
            <a:off x="8041232" y="802642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4" name="Στρογγύλεμα διαγώνιας γωνίας του ορθογωνίου 23"/>
          <p:cNvSpPr/>
          <p:nvPr/>
        </p:nvSpPr>
        <p:spPr>
          <a:xfrm>
            <a:off x="8787124" y="791592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5" name="Στρογγύλεμα διαγώνιας γωνίας του ορθογωνίου 24"/>
          <p:cNvSpPr/>
          <p:nvPr/>
        </p:nvSpPr>
        <p:spPr>
          <a:xfrm>
            <a:off x="9532681" y="768596"/>
            <a:ext cx="732634" cy="3210127"/>
          </a:xfrm>
          <a:prstGeom prst="round2Diag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312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3414" y="1433739"/>
            <a:ext cx="3322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 smtClean="0">
                <a:solidFill>
                  <a:srgbClr val="002060"/>
                </a:solidFill>
              </a:rPr>
              <a:t>Παρουσιάζεται η διαφορά της μέσης κατανάλωσης ανά 10% φορτίου</a:t>
            </a:r>
            <a:endParaRPr lang="el-GR" sz="3600" dirty="0">
              <a:solidFill>
                <a:srgbClr val="002060"/>
              </a:solidFill>
            </a:endParaRPr>
          </a:p>
        </p:txBody>
      </p:sp>
      <p:pic>
        <p:nvPicPr>
          <p:cNvPr id="10" name="Εικόνα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3" y="1099548"/>
            <a:ext cx="6815730" cy="5117127"/>
          </a:xfrm>
          <a:prstGeom prst="rect">
            <a:avLst/>
          </a:prstGeom>
        </p:spPr>
      </p:pic>
      <p:sp>
        <p:nvSpPr>
          <p:cNvPr id="12" name="Ορθογώνιο 11"/>
          <p:cNvSpPr/>
          <p:nvPr/>
        </p:nvSpPr>
        <p:spPr>
          <a:xfrm>
            <a:off x="9373285" y="6404289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Ορθογώνιο 12"/>
          <p:cNvSpPr/>
          <p:nvPr/>
        </p:nvSpPr>
        <p:spPr>
          <a:xfrm>
            <a:off x="-9728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9373285" y="6404289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Ορθογώνιο 12"/>
          <p:cNvSpPr/>
          <p:nvPr/>
        </p:nvSpPr>
        <p:spPr>
          <a:xfrm>
            <a:off x="-9728" y="6576220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Εικόνα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Εικόνα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pic>
        <p:nvPicPr>
          <p:cNvPr id="2" name="Εικόνα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448" y="1077726"/>
            <a:ext cx="7623351" cy="4293916"/>
          </a:xfrm>
          <a:prstGeom prst="rect">
            <a:avLst/>
          </a:prstGeom>
        </p:spPr>
      </p:pic>
      <p:sp>
        <p:nvSpPr>
          <p:cNvPr id="3" name="Ορθογώνιο 2"/>
          <p:cNvSpPr/>
          <p:nvPr/>
        </p:nvSpPr>
        <p:spPr>
          <a:xfrm>
            <a:off x="329022" y="916360"/>
            <a:ext cx="229248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dirty="0" smtClean="0">
                <a:solidFill>
                  <a:srgbClr val="002060"/>
                </a:solidFill>
              </a:rPr>
              <a:t>Σύμφωνα με το άρθρο: </a:t>
            </a:r>
            <a:r>
              <a:rPr lang="en-US" sz="2400" dirty="0" smtClean="0">
                <a:solidFill>
                  <a:srgbClr val="002060"/>
                </a:solidFill>
              </a:rPr>
              <a:t>Energy </a:t>
            </a:r>
            <a:r>
              <a:rPr lang="en-US" sz="2400" dirty="0">
                <a:solidFill>
                  <a:srgbClr val="002060"/>
                </a:solidFill>
              </a:rPr>
              <a:t>Aware Virtual Machine Scheduling in</a:t>
            </a:r>
          </a:p>
          <a:p>
            <a:r>
              <a:rPr lang="en-US" sz="2400" dirty="0">
                <a:solidFill>
                  <a:srgbClr val="002060"/>
                </a:solidFill>
              </a:rPr>
              <a:t>Data </a:t>
            </a:r>
            <a:r>
              <a:rPr lang="en-US" sz="2400" dirty="0" smtClean="0">
                <a:solidFill>
                  <a:srgbClr val="002060"/>
                </a:solidFill>
              </a:rPr>
              <a:t>Centers</a:t>
            </a:r>
            <a:r>
              <a:rPr lang="el-GR" sz="2400" dirty="0" smtClean="0">
                <a:solidFill>
                  <a:srgbClr val="002060"/>
                </a:solidFill>
              </a:rPr>
              <a:t> (2019)</a:t>
            </a:r>
            <a:endParaRPr lang="el-GR" sz="2400" dirty="0">
              <a:solidFill>
                <a:srgbClr val="002060"/>
              </a:solidFill>
            </a:endParaRPr>
          </a:p>
        </p:txBody>
      </p:sp>
      <p:sp>
        <p:nvSpPr>
          <p:cNvPr id="4" name="Ορθογώνιο 3"/>
          <p:cNvSpPr/>
          <p:nvPr/>
        </p:nvSpPr>
        <p:spPr>
          <a:xfrm>
            <a:off x="329022" y="3884788"/>
            <a:ext cx="31729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EP </a:t>
            </a:r>
            <a:r>
              <a:rPr lang="el-GR" sz="2400" dirty="0" smtClean="0">
                <a:solidFill>
                  <a:srgbClr val="002060"/>
                </a:solidFill>
              </a:rPr>
              <a:t>βελτιώθηκε σημαντικά, από </a:t>
            </a:r>
            <a:r>
              <a:rPr lang="en-US" sz="2400" dirty="0" smtClean="0">
                <a:solidFill>
                  <a:srgbClr val="002060"/>
                </a:solidFill>
              </a:rPr>
              <a:t>0.32</a:t>
            </a:r>
            <a:r>
              <a:rPr lang="el-GR" sz="2400" dirty="0" smtClean="0">
                <a:solidFill>
                  <a:srgbClr val="002060"/>
                </a:solidFill>
              </a:rPr>
              <a:t> σε </a:t>
            </a:r>
            <a:r>
              <a:rPr lang="en-US" sz="2400" b="1" dirty="0" smtClean="0">
                <a:solidFill>
                  <a:srgbClr val="002060"/>
                </a:solidFill>
              </a:rPr>
              <a:t>0.91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(2007 </a:t>
            </a:r>
            <a:r>
              <a:rPr lang="el-GR" sz="2400" dirty="0" smtClean="0">
                <a:solidFill>
                  <a:srgbClr val="002060"/>
                </a:solidFill>
              </a:rPr>
              <a:t>-</a:t>
            </a:r>
            <a:r>
              <a:rPr lang="en-US" sz="2400" dirty="0" smtClean="0">
                <a:solidFill>
                  <a:srgbClr val="002060"/>
                </a:solidFill>
              </a:rPr>
              <a:t> 2017</a:t>
            </a:r>
            <a:endParaRPr lang="el-GR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4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5540410" y="496508"/>
            <a:ext cx="15392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Μέλλον</a:t>
            </a:r>
            <a:endParaRPr lang="el-GR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9373285" y="6394558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0" y="6576218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Στυλιανή-Ναβροζίδης 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  <p:sp>
        <p:nvSpPr>
          <p:cNvPr id="9" name="Ορθογώνιο 8"/>
          <p:cNvSpPr/>
          <p:nvPr/>
        </p:nvSpPr>
        <p:spPr>
          <a:xfrm>
            <a:off x="3044757" y="2461701"/>
            <a:ext cx="914724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0,01% </a:t>
            </a:r>
            <a:r>
              <a:rPr lang="el-GR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πιθανότητα </a:t>
            </a:r>
            <a:r>
              <a:rPr lang="en-US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overloading </a:t>
            </a:r>
            <a:r>
              <a:rPr lang="en-US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l-GR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31" y="4399767"/>
            <a:ext cx="2933700" cy="1562100"/>
          </a:xfrm>
          <a:prstGeom prst="rect">
            <a:avLst/>
          </a:prstGeom>
        </p:spPr>
      </p:pic>
      <p:sp>
        <p:nvSpPr>
          <p:cNvPr id="11" name="Ορθογώνιο 10"/>
          <p:cNvSpPr/>
          <p:nvPr/>
        </p:nvSpPr>
        <p:spPr>
          <a:xfrm>
            <a:off x="152400" y="1202906"/>
            <a:ext cx="1198447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Ορισμός της αποδεκτής πιθανότητας για υπερφόρτωση ισχύος σε ένα </a:t>
            </a:r>
            <a:r>
              <a:rPr lang="en-US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oversubscribed data center </a:t>
            </a:r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μεγαλύτερη ακρίβεια</a:t>
            </a:r>
            <a:endParaRPr lang="el-GR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Ορθογώνιο 15"/>
          <p:cNvSpPr/>
          <p:nvPr/>
        </p:nvSpPr>
        <p:spPr>
          <a:xfrm>
            <a:off x="3044757" y="3243911"/>
            <a:ext cx="914724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43min overload/</a:t>
            </a:r>
            <a:r>
              <a:rPr lang="el-GR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μήνα</a:t>
            </a:r>
            <a:endParaRPr lang="el-GR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Ορθογώνιο 16"/>
          <p:cNvSpPr/>
          <p:nvPr/>
        </p:nvSpPr>
        <p:spPr>
          <a:xfrm>
            <a:off x="2743200" y="4518304"/>
            <a:ext cx="923154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l-GR" sz="32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μέσα στη μέρα</a:t>
            </a:r>
            <a:r>
              <a:rPr lang="en-US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min/</a:t>
            </a:r>
            <a:r>
              <a:rPr lang="el-GR" sz="32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εβδομάδα</a:t>
            </a:r>
            <a:endParaRPr lang="el-GR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Εικόνα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073" y="4298438"/>
            <a:ext cx="1163467" cy="116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2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Harokopio University - Wikipedia"/>
          <p:cNvSpPr>
            <a:spLocks noChangeAspect="1" noChangeArrowheads="1"/>
          </p:cNvSpPr>
          <p:nvPr/>
        </p:nvSpPr>
        <p:spPr bwMode="auto">
          <a:xfrm>
            <a:off x="10667999" y="60668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>
              <a:solidFill>
                <a:srgbClr val="002060"/>
              </a:solidFill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3406003" y="2967335"/>
            <a:ext cx="537999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lang="el-GR" sz="6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Ορθογώνιο 9"/>
          <p:cNvSpPr/>
          <p:nvPr/>
        </p:nvSpPr>
        <p:spPr>
          <a:xfrm>
            <a:off x="9373285" y="6394558"/>
            <a:ext cx="280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Δρ. </a:t>
            </a:r>
            <a:r>
              <a:rPr lang="el-GR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Ξύδης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Σωτήριος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Ορθογώνιο 11"/>
          <p:cNvSpPr/>
          <p:nvPr/>
        </p:nvSpPr>
        <p:spPr>
          <a:xfrm>
            <a:off x="0" y="6576218"/>
            <a:ext cx="5106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Τάραμα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Στυλιανή-Ναβροζίδης </a:t>
            </a:r>
            <a:r>
              <a:rPr lang="el-GR" sz="1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Κυριάκος</a:t>
            </a:r>
            <a:endParaRPr lang="el-GR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Εικόνα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3" y="7907"/>
            <a:ext cx="2460805" cy="942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7704" y="14033"/>
            <a:ext cx="326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Σύγχρονες Αρχιτεκτονικές </a:t>
            </a:r>
          </a:p>
          <a:p>
            <a:pPr algn="r"/>
            <a:r>
              <a:rPr lang="el-GR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ΥποδομώνΥπολογιστικού Νέφους</a:t>
            </a:r>
            <a:endParaRPr lang="el-GR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Εικόνα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21507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3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Κύκλωμα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TM04033919[[fn=Κύκλωμα]]</Template>
  <TotalTime>1231</TotalTime>
  <Words>791</Words>
  <Application>Microsoft Office PowerPoint</Application>
  <PresentationFormat>Ευρεία οθόνη</PresentationFormat>
  <Paragraphs>189</Paragraphs>
  <Slides>23</Slides>
  <Notes>0</Notes>
  <HiddenSlides>0</HiddenSlides>
  <MMClips>0</MMClips>
  <ScaleCrop>false</ScaleCrop>
  <HeadingPairs>
    <vt:vector size="8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Ενσωματωμένοι διακομιστές OLE</vt:lpstr>
      </vt:variant>
      <vt:variant>
        <vt:i4>1</vt:i4>
      </vt:variant>
      <vt:variant>
        <vt:lpstr>Τίτλοι διαφανειών</vt:lpstr>
      </vt:variant>
      <vt:variant>
        <vt:i4>23</vt:i4>
      </vt:variant>
    </vt:vector>
  </HeadingPairs>
  <TitlesOfParts>
    <vt:vector size="31" baseType="lpstr">
      <vt:lpstr>Arial</vt:lpstr>
      <vt:lpstr>Calibri</vt:lpstr>
      <vt:lpstr>Times New Roman</vt:lpstr>
      <vt:lpstr>Trebuchet MS</vt:lpstr>
      <vt:lpstr>Tw Cen MT</vt:lpstr>
      <vt:lpstr>Wingdings</vt:lpstr>
      <vt:lpstr>Κύκλωμα</vt:lpstr>
      <vt:lpstr>Φύλλο εργασίας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Stella Tarama</dc:creator>
  <cp:lastModifiedBy>Λογαριασμός Microsoft</cp:lastModifiedBy>
  <cp:revision>81</cp:revision>
  <dcterms:created xsi:type="dcterms:W3CDTF">2021-11-16T12:59:56Z</dcterms:created>
  <dcterms:modified xsi:type="dcterms:W3CDTF">2022-01-24T09:54:31Z</dcterms:modified>
</cp:coreProperties>
</file>